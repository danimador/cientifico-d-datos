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7" r:id="rId10"/>
    <p:sldId id="268" r:id="rId11"/>
    <p:sldId id="270" r:id="rId12"/>
    <p:sldId id="272" r:id="rId13"/>
    <p:sldId id="274" r:id="rId14"/>
    <p:sldId id="273" r:id="rId15"/>
    <p:sldId id="271" r:id="rId16"/>
    <p:sldId id="263" r:id="rId17"/>
    <p:sldId id="269" r:id="rId18"/>
    <p:sldId id="264" r:id="rId19"/>
    <p:sldId id="265" r:id="rId2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A77544-11DD-2336-C652-454884561309}" v="23" dt="2026-03-16T23:41:29.4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187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92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968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8114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5217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813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072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120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3/16/2026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905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727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423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3/16/2026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842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2750D7-24A8-49FA-A959-E247A4E358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>
                <a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tile tx="6350" ty="-127000" sx="65000" sy="64000" flip="none" algn="tl"/>
                </a:blipFill>
                <a:latin typeface="Rockwell Extra Bold"/>
              </a:rPr>
              <a:t>Reckitt 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22436C3-4762-4542-9B41-D8B4CC95F6D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/>
              <a:t>Daniel Gálvez Vidal</a:t>
            </a:r>
          </a:p>
          <a:p>
            <a:r>
              <a:rPr lang="es-MX" dirty="0"/>
              <a:t>Científico de datos – Entrega final</a:t>
            </a:r>
          </a:p>
        </p:txBody>
      </p:sp>
    </p:spTree>
    <p:extLst>
      <p:ext uri="{BB962C8B-B14F-4D97-AF65-F5344CB8AC3E}">
        <p14:creationId xmlns:p14="http://schemas.microsoft.com/office/powerpoint/2010/main" val="1430577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0FFC94-04F7-0D26-9F33-124D9DFBF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8000" dirty="0">
                <a:latin typeface="Rockwell Extra Bold"/>
              </a:rPr>
              <a:t>análisis</a:t>
            </a:r>
            <a:endParaRPr lang="es-MX" sz="8000" dirty="0" err="1">
              <a:latin typeface="Rockwell Extra Bold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387EDF2-3A68-3228-E01F-B5ADFD8BA1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9E3611"/>
              </a:buClr>
            </a:pPr>
            <a:r>
              <a:rPr lang="es-MX" sz="2800" dirty="0"/>
              <a:t>El propósito del análisis de los datos proporcionados por la empresa '</a:t>
            </a:r>
            <a:r>
              <a:rPr lang="es-MX" sz="2800" dirty="0" err="1"/>
              <a:t>Reckkit</a:t>
            </a:r>
            <a:r>
              <a:rPr lang="es-MX" sz="2800" dirty="0"/>
              <a:t>'</a:t>
            </a:r>
          </a:p>
          <a:p>
            <a:pPr marL="0" indent="0">
              <a:buClr>
                <a:srgbClr val="9E3611"/>
              </a:buClr>
              <a:buNone/>
            </a:pPr>
            <a:r>
              <a:rPr lang="es-MX" sz="2800" dirty="0"/>
              <a:t>Es conocer mejor y visualizar los datos, para entender mejor el comportamiento de la empresa y su rendimiento, cómo estuvieron sus ventas en los años 2022 y 2023 y gracias a los datos obtenidos poder hacer modelos de segmentación y predicción para para así poder hacer una mejor planeación para el 2024 por ejemplo.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BE7FF89-0A83-1B4F-19A8-53418CA0F4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9230" y="5073527"/>
            <a:ext cx="2625970" cy="135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221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50D36-FC88-862C-D727-EA3980341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4DA9520-4F2F-705B-9BC7-913BD8C8FE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8000" dirty="0">
                <a:latin typeface="Rockwell Extra Bold"/>
              </a:rPr>
              <a:t>Relevancia</a:t>
            </a:r>
            <a:endParaRPr lang="es-MX" sz="8000" dirty="0" err="1">
              <a:latin typeface="Rockwell Extra Bold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6FFAE1E-BA4B-8E62-B43C-E8D5C4A535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9E3611"/>
              </a:buClr>
            </a:pPr>
            <a:r>
              <a:rPr lang="es-MX" sz="2800" dirty="0"/>
              <a:t>La relevancia del análisis es muy importante ya que se necesita una limpieza adecuada de los datos así como su manipulación y visualización para que la empresa tenga una un mejor cocimiento de sus ventas, el promedio de sus ventas, los productos más vendidos, el comportamiento de sus clientes, marcas y más puntos importantes, así también como predicciones futuras que ayudaran a la empresa a tomar mejores decisiones para de cara al futuro. 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374769B-16E4-B3B8-07DC-61344B94B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9230" y="5073527"/>
            <a:ext cx="2625970" cy="135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07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CC7B72-D94B-C386-0F88-5FDF58536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8D743E-B938-0538-42AD-5E1AECC1F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8000" dirty="0">
                <a:latin typeface="Rockwell Extra Bold"/>
              </a:rPr>
              <a:t>Herramientas</a:t>
            </a:r>
            <a:endParaRPr lang="es-MX" sz="8000" dirty="0" err="1">
              <a:latin typeface="Rockwell Extra Bold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38A1E7-60EC-B9EF-2D5F-FFF6514CBC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Clr>
                <a:srgbClr val="9E3611"/>
              </a:buClr>
            </a:pPr>
            <a:endParaRPr lang="es-MX" sz="2800" dirty="0"/>
          </a:p>
          <a:p>
            <a:pPr>
              <a:buClr>
                <a:srgbClr val="9E3611"/>
              </a:buClr>
            </a:pPr>
            <a:r>
              <a:rPr lang="es-MX" sz="2800" dirty="0"/>
              <a:t>Las herramientas que se usarán para este análisis son:</a:t>
            </a:r>
            <a:endParaRPr lang="es-MX" dirty="0"/>
          </a:p>
          <a:p>
            <a:pPr>
              <a:buClr>
                <a:srgbClr val="9E3611"/>
              </a:buClr>
            </a:pPr>
            <a:r>
              <a:rPr lang="es-MX" sz="2800" dirty="0"/>
              <a:t>Python </a:t>
            </a:r>
          </a:p>
          <a:p>
            <a:pPr>
              <a:buClr>
                <a:srgbClr val="9E3611"/>
              </a:buClr>
            </a:pPr>
            <a:r>
              <a:rPr lang="es-MX" sz="2800" dirty="0"/>
              <a:t>SQLite</a:t>
            </a:r>
          </a:p>
          <a:p>
            <a:pPr>
              <a:buClr>
                <a:srgbClr val="9E3611"/>
              </a:buClr>
            </a:pPr>
            <a:r>
              <a:rPr lang="es-MX" sz="2800" dirty="0"/>
              <a:t>SQL Server Management Studio</a:t>
            </a:r>
            <a:endParaRPr lang="es-MX" dirty="0"/>
          </a:p>
          <a:p>
            <a:pPr>
              <a:buClr>
                <a:srgbClr val="9E3611"/>
              </a:buClr>
            </a:pPr>
            <a:r>
              <a:rPr lang="es-MX" sz="2800" dirty="0" err="1"/>
              <a:t>PowerBI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1F5C4BD-0064-3D26-4634-F2E89E914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9230" y="5073527"/>
            <a:ext cx="2625970" cy="135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2897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6FD64-2157-7447-57C4-F68C1F940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9A6D69-88F5-DB3F-8E21-12B3F80AD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8000" dirty="0">
                <a:latin typeface="Rockwell Extra Bold"/>
              </a:rPr>
              <a:t> </a:t>
            </a:r>
            <a:r>
              <a:rPr lang="es-MX" sz="8000" err="1">
                <a:latin typeface="Rockwell Extra Bold"/>
              </a:rPr>
              <a:t>lIMPIEZA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A6A3FBA-70D3-F4D7-0F5A-15CB88CB41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3990" y="5218211"/>
            <a:ext cx="2625970" cy="1353284"/>
          </a:xfrm>
          <a:prstGeom prst="rect">
            <a:avLst/>
          </a:prstGeom>
        </p:spPr>
      </p:pic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588C68D1-8075-F6D2-0198-FF287EC3AA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67045" y="1980731"/>
            <a:ext cx="8113730" cy="405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664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8D969-FDE8-D2F5-67F0-1267D4822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5F6A6-E516-DBFD-A0A1-8A88DCB15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8000" dirty="0">
                <a:latin typeface="Rockwell Extra Bold"/>
              </a:rPr>
              <a:t> </a:t>
            </a:r>
            <a:r>
              <a:rPr lang="es-MX" sz="8000" err="1">
                <a:latin typeface="Rockwell Extra Bold"/>
              </a:rPr>
              <a:t>lIMPIEZA</a:t>
            </a:r>
          </a:p>
        </p:txBody>
      </p:sp>
      <p:pic>
        <p:nvPicPr>
          <p:cNvPr id="10" name="Marcador de contenido 9">
            <a:extLst>
              <a:ext uri="{FF2B5EF4-FFF2-40B4-BE49-F238E27FC236}">
                <a16:creationId xmlns:a16="http://schemas.microsoft.com/office/drawing/2014/main" id="{72296BF1-41D4-2E7B-1CCE-55241A4AE8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7045" y="2513507"/>
            <a:ext cx="8113730" cy="298524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72AC7DE-5BCA-A855-3EA9-DA00CF479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230" y="5073527"/>
            <a:ext cx="2625970" cy="1353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551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A6FA0-0A3A-DA23-5A1C-6F36E59D6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225BC1-B6C7-19D0-6A02-F6E38AC56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8000" dirty="0" err="1">
                <a:latin typeface="Rockwell Extra Bold"/>
              </a:rPr>
              <a:t>Ssms</a:t>
            </a:r>
            <a:r>
              <a:rPr lang="es-MX" sz="8000" dirty="0">
                <a:latin typeface="Rockwell Extra Bold"/>
              </a:rPr>
              <a:t> </a:t>
            </a:r>
            <a:endParaRPr lang="es-MX" sz="8000" dirty="0" err="1">
              <a:latin typeface="Rockwell Extra Bold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0A69AD6-8BD6-3DB0-3BCA-5E13A2F01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9230" y="5073527"/>
            <a:ext cx="2625970" cy="1353284"/>
          </a:xfrm>
          <a:prstGeom prst="rect">
            <a:avLst/>
          </a:prstGeom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968DE15-B21F-22A5-4B6D-5626022F0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/>
              <a:t>SQL Sever Management Studio </a:t>
            </a:r>
          </a:p>
          <a:p>
            <a:pPr>
              <a:buClr>
                <a:srgbClr val="9E3611"/>
              </a:buClr>
            </a:pPr>
            <a:r>
              <a:rPr lang="es-MX" dirty="0"/>
              <a:t>Nos sirve para la creación  y manipulación de base de datos </a:t>
            </a:r>
          </a:p>
          <a:p>
            <a:pPr>
              <a:buClr>
                <a:srgbClr val="9E3611"/>
              </a:buClr>
            </a:pPr>
            <a:r>
              <a:rPr lang="es-MX" dirty="0"/>
              <a:t>A continuación veremos </a:t>
            </a:r>
            <a:r>
              <a:rPr lang="es-MX" dirty="0" err="1"/>
              <a:t>como</a:t>
            </a:r>
            <a:r>
              <a:rPr lang="es-MX" dirty="0"/>
              <a:t> se crea una base de datos.</a:t>
            </a:r>
          </a:p>
          <a:p>
            <a:pPr>
              <a:buClr>
                <a:srgbClr val="9E3611"/>
              </a:buClr>
            </a:pPr>
            <a:endParaRPr lang="es-MX" dirty="0"/>
          </a:p>
          <a:p>
            <a:pPr marL="0" indent="0">
              <a:buClr>
                <a:srgbClr val="9E3611"/>
              </a:buClr>
              <a:buNone/>
            </a:pPr>
            <a:endParaRPr lang="es-MX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A0BADB5-2FA5-58CB-4145-A10FFF676A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157" y="3693135"/>
            <a:ext cx="3235570" cy="248456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218D37F-407E-A8E2-4609-0BA380161F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6440" y="3687274"/>
            <a:ext cx="2870690" cy="2496284"/>
          </a:xfrm>
          <a:prstGeom prst="rect">
            <a:avLst/>
          </a:prstGeom>
        </p:spPr>
      </p:pic>
      <p:sp>
        <p:nvSpPr>
          <p:cNvPr id="9" name="Flecha: a la derecha 8">
            <a:extLst>
              <a:ext uri="{FF2B5EF4-FFF2-40B4-BE49-F238E27FC236}">
                <a16:creationId xmlns:a16="http://schemas.microsoft.com/office/drawing/2014/main" id="{D1F1F9F1-2202-101D-E8C7-7051C4FEC68B}"/>
              </a:ext>
            </a:extLst>
          </p:cNvPr>
          <p:cNvSpPr/>
          <p:nvPr/>
        </p:nvSpPr>
        <p:spPr>
          <a:xfrm>
            <a:off x="4425461" y="4806461"/>
            <a:ext cx="952500" cy="55684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65697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0C500-EEAC-8BC0-CCF1-E73D3D4F3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041030-23B5-C7D5-215B-03D855D05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>
                <a:latin typeface="Rockwell Extra Bold"/>
              </a:rPr>
              <a:t>EDICIÓN DE DF </a:t>
            </a:r>
            <a:endParaRPr lang="es-MX" err="1">
              <a:latin typeface="Rockwell Extra Bold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FD97B6D-0BC4-01E0-86C7-1BC909D2A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831957"/>
            <a:ext cx="10232572" cy="120200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EFAF743D-D321-6C71-A96B-CD543251F6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179825"/>
            <a:ext cx="10232571" cy="3176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8421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EB98E0-1FB7-EB02-6630-F417C2003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8E083C-8D58-E00A-7051-1681F8640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>
                <a:latin typeface="Rockwell Extra Bold"/>
              </a:rPr>
              <a:t>EDICIÓN DE DF </a:t>
            </a:r>
            <a:endParaRPr lang="es-MX" err="1">
              <a:latin typeface="Rockwell Extra Bold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6850A53-1BDC-956B-4048-29855E9BA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71" y="3752549"/>
            <a:ext cx="10232572" cy="1202001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171F4899-98B1-2424-E5E5-504F705D922E}"/>
              </a:ext>
            </a:extLst>
          </p:cNvPr>
          <p:cNvSpPr txBox="1"/>
          <p:nvPr/>
        </p:nvSpPr>
        <p:spPr>
          <a:xfrm>
            <a:off x="974375" y="2267215"/>
            <a:ext cx="9909055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MX" dirty="0"/>
              <a:t>Para la mayoría de los grá</a:t>
            </a:r>
            <a:r>
              <a:rPr lang="es-MX" dirty="0">
                <a:solidFill>
                  <a:srgbClr val="000000"/>
                </a:solidFill>
                <a:latin typeface="Rockwell"/>
              </a:rPr>
              <a:t>ficos que </a:t>
            </a:r>
            <a:r>
              <a:rPr lang="es-MX" dirty="0" err="1">
                <a:solidFill>
                  <a:srgbClr val="000000"/>
                </a:solidFill>
                <a:latin typeface="Rockwell"/>
              </a:rPr>
              <a:t>relizaremos</a:t>
            </a:r>
            <a:r>
              <a:rPr lang="es-MX" dirty="0">
                <a:solidFill>
                  <a:srgbClr val="000000"/>
                </a:solidFill>
                <a:latin typeface="Rockwell"/>
              </a:rPr>
              <a:t> vamos a utilizar nuestro '</a:t>
            </a:r>
            <a:r>
              <a:rPr lang="es-MX" dirty="0" err="1">
                <a:solidFill>
                  <a:srgbClr val="000000"/>
                </a:solidFill>
                <a:latin typeface="Rockwell"/>
              </a:rPr>
              <a:t>DataFrame</a:t>
            </a:r>
            <a:r>
              <a:rPr lang="es-MX" dirty="0">
                <a:solidFill>
                  <a:srgbClr val="000000"/>
                </a:solidFill>
                <a:latin typeface="Rockwell"/>
              </a:rPr>
              <a:t>'</a:t>
            </a:r>
          </a:p>
          <a:p>
            <a:r>
              <a:rPr lang="es-MX" dirty="0">
                <a:solidFill>
                  <a:srgbClr val="000000"/>
                </a:solidFill>
                <a:latin typeface="Rockwell"/>
              </a:rPr>
              <a:t>'FACT_SALES' que guardamos como '</a:t>
            </a:r>
            <a:r>
              <a:rPr lang="es-MX" dirty="0" err="1">
                <a:solidFill>
                  <a:srgbClr val="000000"/>
                </a:solidFill>
                <a:latin typeface="Rockwell"/>
              </a:rPr>
              <a:t>sales_df_original</a:t>
            </a:r>
            <a:r>
              <a:rPr lang="es-MX" dirty="0">
                <a:solidFill>
                  <a:srgbClr val="000000"/>
                </a:solidFill>
                <a:latin typeface="Rockwell"/>
              </a:rPr>
              <a:t>', ya que más adelante hicimos una versión en la que escalamos los valores a que llamamos '</a:t>
            </a:r>
            <a:r>
              <a:rPr lang="es-MX" dirty="0" err="1">
                <a:solidFill>
                  <a:srgbClr val="000000"/>
                </a:solidFill>
                <a:latin typeface="Rockwell"/>
              </a:rPr>
              <a:t>sales_scaled_df</a:t>
            </a:r>
            <a:r>
              <a:rPr lang="es-MX" dirty="0">
                <a:solidFill>
                  <a:srgbClr val="000000"/>
                </a:solidFill>
                <a:latin typeface="Rockwell"/>
              </a:rPr>
              <a:t>'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76873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7FB2B-8EAB-5702-033D-74AD44E97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AB02CA-5E16-E642-E053-863612FE6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>
                <a:latin typeface="Rockwell Extra Bold"/>
              </a:rPr>
              <a:t>EDICIÓN DE DF </a:t>
            </a:r>
            <a:endParaRPr lang="es-MX" err="1">
              <a:latin typeface="Rockwell Extra Bold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4FD23BB-294F-2856-E3F4-6F333A1C2858}"/>
              </a:ext>
            </a:extLst>
          </p:cNvPr>
          <p:cNvSpPr txBox="1"/>
          <p:nvPr/>
        </p:nvSpPr>
        <p:spPr>
          <a:xfrm>
            <a:off x="789318" y="1810015"/>
            <a:ext cx="9909055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MX" dirty="0"/>
              <a:t>Crearemos una nueva columna llamada 'WEEK_DATE' que </a:t>
            </a:r>
            <a:r>
              <a:rPr lang="es-MX"/>
              <a:t>tendrá</a:t>
            </a:r>
            <a:r>
              <a:rPr lang="es-MX" dirty="0"/>
              <a:t> un formato de fecha</a:t>
            </a:r>
          </a:p>
          <a:p>
            <a:r>
              <a:rPr lang="es-MX" dirty="0"/>
              <a:t>'</a:t>
            </a:r>
            <a:r>
              <a:rPr lang="es-MX" dirty="0" err="1"/>
              <a:t>datetime</a:t>
            </a:r>
            <a:r>
              <a:rPr lang="es-MX" dirty="0"/>
              <a:t>' el cual nos será de mucha utilidad para crear nuestra serie de tiempo </a:t>
            </a:r>
          </a:p>
          <a:p>
            <a:r>
              <a:rPr lang="es-MX"/>
              <a:t>Además</a:t>
            </a:r>
            <a:r>
              <a:rPr lang="es-MX" dirty="0"/>
              <a:t> de que agregaremos dos dígitos a nuestro año para que esté cumpla con el formato, en el archivo de notebook podremos observar los procesos más a detalle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AD17B98-EF57-E23F-7B90-82C5C9647C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63" y="3271913"/>
            <a:ext cx="10167258" cy="3100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8649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16BEF-2EAE-B397-D257-DA94C5B49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7F5C4ECE-CE43-0D3F-195D-360671264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2718548" cy="432727"/>
          </a:xfrm>
        </p:spPr>
        <p:txBody>
          <a:bodyPr>
            <a:normAutofit fontScale="90000"/>
          </a:bodyPr>
          <a:lstStyle/>
          <a:p>
            <a:r>
              <a:rPr lang="es-MX" dirty="0" err="1"/>
              <a:t>GrÁFICOS</a:t>
            </a:r>
            <a:endParaRPr lang="es-MX" dirty="0" err="1">
              <a:latin typeface="Rockwell Condensed"/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6B790AD0-B933-D933-6B74-C05ED0189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815" y="1198761"/>
            <a:ext cx="5076093" cy="208069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F6DA3A6-59F1-777C-B362-EDF0DF191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538" y="1151868"/>
            <a:ext cx="5486400" cy="218620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F1092C4-13BF-7072-3F84-846930702A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891" y="3633055"/>
            <a:ext cx="5044587" cy="194823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02A6DFB4-A2A1-A61E-6BA5-AB066CDF39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2439" y="3431931"/>
            <a:ext cx="5058508" cy="225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032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F813F-4000-319B-0A4C-314429980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E5F62590-C2C0-DAF1-0AD9-58FA9879E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2718548" cy="432727"/>
          </a:xfrm>
        </p:spPr>
        <p:txBody>
          <a:bodyPr>
            <a:normAutofit fontScale="90000"/>
          </a:bodyPr>
          <a:lstStyle/>
          <a:p>
            <a:r>
              <a:rPr lang="es-MX" dirty="0" err="1"/>
              <a:t>GrÁFICOS</a:t>
            </a:r>
            <a:endParaRPr lang="es-MX" dirty="0" err="1">
              <a:latin typeface="Rockwell Condensed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5F50B6F-EEEC-902A-DB12-E39039960D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54" y="1506417"/>
            <a:ext cx="4923693" cy="203981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85EF5E6-EF01-A2B7-9728-E90B5315D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3793" y="923194"/>
            <a:ext cx="5814647" cy="2368063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09F44C5-44F2-E6A4-2713-5A8BD8F581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1523" y="4138246"/>
            <a:ext cx="5029200" cy="205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8606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B500C-894E-9497-B146-070FE5164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3229CA80-0574-C0D6-0B95-EE1106A09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353" y="1262817"/>
            <a:ext cx="4987654" cy="20355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8B0EDC2-8373-0823-9959-19BB4F77D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54" y="3780692"/>
            <a:ext cx="5146433" cy="199292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95DD687-6046-A246-9EF2-117CE90877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0277" y="4780451"/>
            <a:ext cx="3282462" cy="1693252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488CE3F2-2C19-755B-2690-677A7123906F}"/>
              </a:ext>
            </a:extLst>
          </p:cNvPr>
          <p:cNvSpPr txBox="1"/>
          <p:nvPr/>
        </p:nvSpPr>
        <p:spPr>
          <a:xfrm>
            <a:off x="5671039" y="750277"/>
            <a:ext cx="5794129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MX" dirty="0"/>
              <a:t>Conclusión y Hallazgos </a:t>
            </a:r>
            <a:r>
              <a:rPr lang="es-MX"/>
              <a:t>importantes</a:t>
            </a:r>
          </a:p>
          <a:p>
            <a:endParaRPr lang="es-MX" dirty="0"/>
          </a:p>
          <a:p>
            <a:r>
              <a:rPr lang="es-MX" dirty="0"/>
              <a:t>El líder en ventas por región es 'Total Auto </a:t>
            </a:r>
            <a:r>
              <a:rPr lang="es-MX" err="1"/>
              <a:t>Scanning</a:t>
            </a:r>
            <a:r>
              <a:rPr lang="es-MX" dirty="0"/>
              <a:t> México. Está muy por encima de las demás regiones que </a:t>
            </a:r>
            <a:r>
              <a:rPr lang="es-MX"/>
              <a:t>están</a:t>
            </a:r>
            <a:r>
              <a:rPr lang="es-MX" dirty="0"/>
              <a:t> casi al mismo nivel en ellas. Se recomienda revisar cuales son los factores que hacen que está diferencia tan grande. Revisar sus procesos y tomar medidas para incrementar las ventas. </a:t>
            </a:r>
          </a:p>
          <a:p>
            <a:endParaRPr lang="es-MX" dirty="0"/>
          </a:p>
          <a:p>
            <a:r>
              <a:rPr lang="es-MX" dirty="0"/>
              <a:t>En cuanto a marcas, </a:t>
            </a:r>
            <a:r>
              <a:rPr lang="es-MX" err="1"/>
              <a:t>Vanish</a:t>
            </a:r>
            <a:r>
              <a:rPr lang="es-MX" dirty="0"/>
              <a:t> 02, </a:t>
            </a:r>
            <a:r>
              <a:rPr lang="es-MX" err="1"/>
              <a:t>Vanish</a:t>
            </a:r>
            <a:r>
              <a:rPr lang="es-MX" dirty="0"/>
              <a:t> Cristal White y La Japonesa entre otras, no tienen ventas </a:t>
            </a:r>
            <a:r>
              <a:rPr lang="es-MX"/>
              <a:t>como se puede observar en gráfico azul</a:t>
            </a:r>
            <a:endParaRPr lang="es-MX" dirty="0"/>
          </a:p>
          <a:p>
            <a:r>
              <a:rPr lang="es-MX" dirty="0"/>
              <a:t>Se recomienda reforzar las campañas de </a:t>
            </a:r>
            <a:r>
              <a:rPr lang="es-MX" dirty="0" err="1"/>
              <a:t>mercadotéctnia</a:t>
            </a:r>
            <a:r>
              <a:rPr lang="es-MX" dirty="0"/>
              <a:t> para impulsar las diferentes marcas, mientras que </a:t>
            </a:r>
            <a:r>
              <a:rPr lang="es-MX" dirty="0" err="1"/>
              <a:t>Blancatel</a:t>
            </a:r>
            <a:r>
              <a:rPr lang="es-MX" dirty="0"/>
              <a:t> y Clorales son las </a:t>
            </a:r>
          </a:p>
          <a:p>
            <a:r>
              <a:rPr lang="es-MX"/>
              <a:t>Marcas que más se venden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77829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8F1F8-129F-A827-7BF8-0CDD8608C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74DE04-735D-8414-2455-7103910A9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>
                <a:latin typeface="Rockwell Extra Bold"/>
              </a:rPr>
              <a:t>Segmentación </a:t>
            </a:r>
            <a:endParaRPr lang="es-MX" err="1">
              <a:latin typeface="Rockwell Extra Bold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883ADCA-183C-5C37-5F26-6FC60A9C9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9" y="2444261"/>
            <a:ext cx="8065478" cy="3188677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9DBE8E1-A0FF-FBD7-CE29-1C25C1EB8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006969"/>
            <a:ext cx="2356339" cy="1817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313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17153-050B-5257-6629-6C02BF215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272FE42D-273E-8D1D-C58A-F5C61817F0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2718548" cy="432727"/>
          </a:xfrm>
        </p:spPr>
        <p:txBody>
          <a:bodyPr>
            <a:normAutofit fontScale="90000"/>
          </a:bodyPr>
          <a:lstStyle/>
          <a:p>
            <a:r>
              <a:rPr lang="es-MX" dirty="0" err="1"/>
              <a:t>GrÁFICOS</a:t>
            </a:r>
            <a:endParaRPr lang="es-MX" dirty="0" err="1">
              <a:latin typeface="Rockwell Condensed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1F8AD4C-A652-76EF-44AF-F0FDFA378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2656" y="696686"/>
            <a:ext cx="4169229" cy="162197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4DBFC4F-6492-5589-CD48-BAC4B1B84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8243" y="691243"/>
            <a:ext cx="4037912" cy="160888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E87B030-2E8E-EAC1-3086-C14045FC0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885" y="2492829"/>
            <a:ext cx="10330544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057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E6774-C034-19D3-C5BE-5A8D9AD1E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E8213BE-CBA1-0AEF-5102-1047A5A5FF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9230" y="5073527"/>
            <a:ext cx="2625970" cy="1353284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6E5E1EDE-9238-09AF-EDAB-0F726DAC8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7470" y="206188"/>
            <a:ext cx="4078942" cy="3025589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C1FE01E9-D4A0-7A3D-EB97-68E1A1431A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9487" y="2400300"/>
            <a:ext cx="5153025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288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2E6A5-585C-B75A-674E-83D5574C5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7FA4AA7-76B4-3DE0-F552-25130E999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9230" y="5073527"/>
            <a:ext cx="2625970" cy="1353284"/>
          </a:xfrm>
          <a:prstGeom prst="rect">
            <a:avLst/>
          </a:prstGeom>
        </p:spPr>
      </p:pic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D285ABF-8BF7-A7DC-0C18-CC870095F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576814"/>
            <a:ext cx="10058400" cy="286660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/>
              <a:t>Ahora agregamos nuestros archivos CSV o Excel</a:t>
            </a:r>
          </a:p>
          <a:p>
            <a:pPr>
              <a:buClr>
                <a:srgbClr val="9E3611"/>
              </a:buClr>
            </a:pPr>
            <a:endParaRPr lang="es-MX" dirty="0"/>
          </a:p>
          <a:p>
            <a:pPr marL="0" indent="0">
              <a:buClr>
                <a:srgbClr val="9E3611"/>
              </a:buClr>
              <a:buNone/>
            </a:pPr>
            <a:endParaRPr lang="es-MX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6E173CC-E671-7684-6170-3A289756F8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915" y="1336431"/>
            <a:ext cx="4803955" cy="5087815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01FB5F9-E59A-388B-43B9-DD6819537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372" y="2638792"/>
            <a:ext cx="2474302" cy="2623771"/>
          </a:xfrm>
          <a:prstGeom prst="rect">
            <a:avLst/>
          </a:prstGeom>
        </p:spPr>
      </p:pic>
      <p:sp>
        <p:nvSpPr>
          <p:cNvPr id="12" name="Flecha: a la derecha 11">
            <a:extLst>
              <a:ext uri="{FF2B5EF4-FFF2-40B4-BE49-F238E27FC236}">
                <a16:creationId xmlns:a16="http://schemas.microsoft.com/office/drawing/2014/main" id="{38CE21A0-4489-5854-6900-F037A78EDC59}"/>
              </a:ext>
            </a:extLst>
          </p:cNvPr>
          <p:cNvSpPr/>
          <p:nvPr/>
        </p:nvSpPr>
        <p:spPr>
          <a:xfrm>
            <a:off x="6283568" y="3692769"/>
            <a:ext cx="791307" cy="5128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94828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6DAB86-848C-E179-7CDB-ED908FEDB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291" y="481661"/>
            <a:ext cx="10048755" cy="50122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/>
              <a:t>Ahora después de crear un "</a:t>
            </a:r>
            <a:r>
              <a:rPr lang="es-MX" dirty="0" err="1"/>
              <a:t>Query</a:t>
            </a:r>
            <a:r>
              <a:rPr lang="es-MX" dirty="0"/>
              <a:t>" podemos hacer consultas.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1E66CB4-A3BB-6E7C-601D-F57D2DE57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9230" y="5073527"/>
            <a:ext cx="2625970" cy="135328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E241F17-7DA7-7DF9-3218-B8AA54545D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972" y="1089949"/>
            <a:ext cx="7448285" cy="5334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791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09E05-2DEF-113B-3F75-2FFF54823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9C47401-D637-2A11-8A61-D6BE3A423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9230" y="5073527"/>
            <a:ext cx="2625970" cy="1353284"/>
          </a:xfrm>
          <a:prstGeom prst="rect">
            <a:avLst/>
          </a:prstGeom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1242F05F-D2E7-27D6-811A-5B025E508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s-MX" sz="8000" dirty="0">
                <a:latin typeface="Rockwell Extra Bold"/>
              </a:rPr>
              <a:t>DASHBOARDS</a:t>
            </a:r>
            <a:endParaRPr lang="es-MX" sz="8000" dirty="0" err="1">
              <a:latin typeface="Rockwell Extra Bold"/>
            </a:endParaRPr>
          </a:p>
        </p:txBody>
      </p:sp>
      <p:pic>
        <p:nvPicPr>
          <p:cNvPr id="11" name="Imagen 10" descr="Interfaz de usuario gráfica, Tabla&#10;&#10;El contenido generado por IA puede ser incorrecto.">
            <a:extLst>
              <a:ext uri="{FF2B5EF4-FFF2-40B4-BE49-F238E27FC236}">
                <a16:creationId xmlns:a16="http://schemas.microsoft.com/office/drawing/2014/main" id="{341D9A32-2613-8C5B-DDD2-0DEEE9769C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323" y="1960460"/>
            <a:ext cx="7831016" cy="378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90190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Panorámica</PresentationFormat>
  <Paragraphs>0</Paragraphs>
  <Slides>19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19</vt:i4>
      </vt:variant>
    </vt:vector>
  </HeadingPairs>
  <TitlesOfParts>
    <vt:vector size="20" baseType="lpstr">
      <vt:lpstr>Wood Type</vt:lpstr>
      <vt:lpstr>Reckitt </vt:lpstr>
      <vt:lpstr>análisis</vt:lpstr>
      <vt:lpstr>Relevancia</vt:lpstr>
      <vt:lpstr>Herramientas</vt:lpstr>
      <vt:lpstr> lIMPIEZA</vt:lpstr>
      <vt:lpstr> lIMPIEZA</vt:lpstr>
      <vt:lpstr>Ssms </vt:lpstr>
      <vt:lpstr>EDICIÓN DE DF </vt:lpstr>
      <vt:lpstr>EDICIÓN DE DF </vt:lpstr>
      <vt:lpstr>EDICIÓN DE DF </vt:lpstr>
      <vt:lpstr>GrÁFICOS</vt:lpstr>
      <vt:lpstr>GrÁFICOS</vt:lpstr>
      <vt:lpstr>Presentación de PowerPoint</vt:lpstr>
      <vt:lpstr>Segmentación </vt:lpstr>
      <vt:lpstr>GrÁFICOS</vt:lpstr>
      <vt:lpstr>Presentación de PowerPoint</vt:lpstr>
      <vt:lpstr>Presentación de PowerPoint</vt:lpstr>
      <vt:lpstr>Presentación de PowerPoint</vt:lpstr>
      <vt:lpstr>DASHBOARDS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640</cp:revision>
  <dcterms:created xsi:type="dcterms:W3CDTF">2026-03-06T18:19:17Z</dcterms:created>
  <dcterms:modified xsi:type="dcterms:W3CDTF">2026-03-16T23:52:27Z</dcterms:modified>
</cp:coreProperties>
</file>